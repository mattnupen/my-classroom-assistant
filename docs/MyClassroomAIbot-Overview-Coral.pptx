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18"/>
    <p:sldId id="265" r:id="rId11"/>
    <p:sldId id="273" r:id="rId19"/>
    <p:sldId id="260" r:id="rId6"/>
    <p:sldId id="261" r:id="rId7"/>
    <p:sldId id="262" r:id="rId8"/>
    <p:sldId id="263" r:id="rId9"/>
    <p:sldId id="264" r:id="rId10"/>
    <p:sldId id="270" r:id="rId16"/>
    <p:sldId id="266" r:id="rId12"/>
    <p:sldId id="267" r:id="rId13"/>
    <p:sldId id="268" r:id="rId14"/>
    <p:sldId id="269" r:id="rId15"/>
    <p:sldId id="271" r:id="rId17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920240"/>
            <a:ext cx="2743200" cy="2743200"/>
          </a:xfrm>
          <a:prstGeom prst="ellipse">
            <a:avLst/>
          </a:prstGeom>
          <a:solidFill>
            <a:srgbClr val="E0533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08" y="2578608"/>
            <a:ext cx="1417320" cy="1417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14884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Classroom AI Bot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914400" y="374904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F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 classroom AI help a class reach their goal?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91440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MyClassroomAIbot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892808"/>
            <a:ext cx="118872" cy="39014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783080"/>
            <a:ext cx="10405872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by design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your AI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  </a:t>
            </a:r>
            <a:pPr indent="0" marL="0"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 it up</a:t>
            </a:r>
            <a:pPr indent="0" marL="0">
              <a:spcAft>
                <a:spcPts val="1800"/>
              </a:spcAft>
              <a:buNone/>
            </a:pP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Idea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278892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 semi-autonomous AI assistant help students and their teacher solve a problem in the classroom?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4892040"/>
            <a:ext cx="1081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AI, give it a real job, and watch how it thinks.  Inspired by Project Vend.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semi-autonomous AI assistant for the classroom that focuses on one goal.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85800" y="26060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Inspired by Anthropic's 'Project Vend' experiment.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67512" y="3401568"/>
            <a:ext cx="118872" cy="18186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6446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Uses evidence-based practices</a:t>
            </a:r>
            <a:pPr indent="0" marL="0">
              <a:spcAft>
                <a:spcPts val="1200"/>
              </a:spcAft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Develops and continuously adjusts its own plan</a:t>
            </a:r>
            <a:pPr indent="0" marL="0">
              <a:spcAft>
                <a:spcPts val="1200"/>
              </a:spcAft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and communicates through the teacher</a:t>
            </a:r>
            <a:pPr indent="0" marL="0">
              <a:spcAft>
                <a:spcPts val="1200"/>
              </a:spcAft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experiment to learn about using AI</a:t>
            </a:r>
            <a:pPr indent="0" marL="0">
              <a:spcAft>
                <a:spcPts val="1200"/>
              </a:spcAft>
              <a:buNone/>
            </a:pP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F5EFE9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828800"/>
            <a:ext cx="1828800" cy="1828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869680" y="384048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through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 (Agentic AI)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468880"/>
            <a:ext cx="2194560" cy="2194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023360" y="23774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an employee or agent.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4023360" y="33832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it a job — it makes a plan, does a variety of tasks, and comes back with the completed work.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vs. agentic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8308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219456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(chat)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051560" y="4069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prompt, it replies, then you do the work.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051560" y="5212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Manual, step by step.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46520" y="1783080"/>
            <a:ext cx="5120640" cy="4023360"/>
          </a:xfrm>
          <a:prstGeom prst="roundRect">
            <a:avLst>
              <a:gd name="adj" fmla="val 2273"/>
            </a:avLst>
          </a:prstGeom>
          <a:solidFill>
            <a:srgbClr val="E0533A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194560"/>
            <a:ext cx="1097280" cy="10972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20840" y="3429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Cowork (agentic)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6812280" y="40690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the task; it plans, does the steps, and delivers finished output.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6812280" y="5212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Autonomous, multi-step.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37360"/>
            <a:ext cx="2464308" cy="393192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625346" y="2057400"/>
            <a:ext cx="585216" cy="585216"/>
          </a:xfrm>
          <a:prstGeom prst="ellipse">
            <a:avLst/>
          </a:prstGeom>
          <a:solidFill>
            <a:srgbClr val="E0533A"/>
          </a:solidFill>
          <a:ln/>
        </p:spPr>
      </p:sp>
      <p:sp>
        <p:nvSpPr>
          <p:cNvPr id="7" name="Text 5"/>
          <p:cNvSpPr/>
          <p:nvPr/>
        </p:nvSpPr>
        <p:spPr>
          <a:xfrm>
            <a:off x="1625346" y="20574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5034" y="2880360"/>
            <a:ext cx="1005840" cy="1005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4023360"/>
            <a:ext cx="21899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feeds it data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4846320"/>
            <a:ext cx="2189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attendance, assignments, messages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470148" y="1737360"/>
            <a:ext cx="2464308" cy="393192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409694" y="2057400"/>
            <a:ext cx="585216" cy="585216"/>
          </a:xfrm>
          <a:prstGeom prst="ellipse">
            <a:avLst/>
          </a:prstGeom>
          <a:solidFill>
            <a:srgbClr val="E0533A"/>
          </a:solidFill>
          <a:ln/>
        </p:spPr>
      </p:sp>
      <p:sp>
        <p:nvSpPr>
          <p:cNvPr id="13" name="Text 10"/>
          <p:cNvSpPr/>
          <p:nvPr/>
        </p:nvSpPr>
        <p:spPr>
          <a:xfrm>
            <a:off x="4409694" y="20574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382" y="2880360"/>
            <a:ext cx="1005840" cy="10058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07308" y="4023360"/>
            <a:ext cx="21899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analyzes + plans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3607308" y="4846320"/>
            <a:ext cx="2189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patterns, builds strategies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254496" y="1737360"/>
            <a:ext cx="2464308" cy="393192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194042" y="2057400"/>
            <a:ext cx="585216" cy="585216"/>
          </a:xfrm>
          <a:prstGeom prst="ellipse">
            <a:avLst/>
          </a:prstGeom>
          <a:solidFill>
            <a:srgbClr val="E0533A"/>
          </a:solidFill>
          <a:ln/>
        </p:spPr>
      </p:sp>
      <p:sp>
        <p:nvSpPr>
          <p:cNvPr id="19" name="Text 15"/>
          <p:cNvSpPr/>
          <p:nvPr/>
        </p:nvSpPr>
        <p:spPr>
          <a:xfrm>
            <a:off x="7194042" y="20574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3730" y="2880360"/>
            <a:ext cx="1005840" cy="100584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91656" y="4023360"/>
            <a:ext cx="21899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takes action</a:t>
            </a:r>
            <a:endParaRPr lang="en-US" sz="1900" dirty="0"/>
          </a:p>
        </p:txBody>
      </p:sp>
      <p:sp>
        <p:nvSpPr>
          <p:cNvPr id="22" name="Text 17"/>
          <p:cNvSpPr/>
          <p:nvPr/>
        </p:nvSpPr>
        <p:spPr>
          <a:xfrm>
            <a:off x="6391656" y="4846320"/>
            <a:ext cx="2189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messages, challenges, rewards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9038844" y="1737360"/>
            <a:ext cx="2464308" cy="393192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978390" y="2057400"/>
            <a:ext cx="585216" cy="585216"/>
          </a:xfrm>
          <a:prstGeom prst="ellipse">
            <a:avLst/>
          </a:prstGeom>
          <a:solidFill>
            <a:srgbClr val="E0533A"/>
          </a:solidFill>
          <a:ln/>
        </p:spPr>
      </p:sp>
      <p:sp>
        <p:nvSpPr>
          <p:cNvPr id="25" name="Text 20"/>
          <p:cNvSpPr/>
          <p:nvPr/>
        </p:nvSpPr>
        <p:spPr>
          <a:xfrm>
            <a:off x="9978390" y="20574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8078" y="2880360"/>
            <a:ext cx="1005840" cy="100584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9176004" y="4023360"/>
            <a:ext cx="21899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see the results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9176004" y="4846320"/>
            <a:ext cx="2189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progress updates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Loop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697480"/>
            <a:ext cx="2286000" cy="2286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0" y="16002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or weekly: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553712" y="2487168"/>
            <a:ext cx="118872" cy="22250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8" name="Text 5"/>
          <p:cNvSpPr/>
          <p:nvPr/>
        </p:nvSpPr>
        <p:spPr>
          <a:xfrm>
            <a:off x="4983480" y="2377440"/>
            <a:ext cx="6446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provides updates and data</a:t>
            </a:r>
            <a:pPr indent="0" marL="0">
              <a:spcAft>
                <a:spcPts val="16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develops a plan and materials</a:t>
            </a:r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research, constraints, history</a:t>
            </a:r>
            <a:pPr indent="0" marL="0">
              <a:spcAft>
                <a:spcPts val="16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reviews and implements</a:t>
            </a:r>
            <a:pPr indent="0" marL="0">
              <a:spcAft>
                <a:spcPts val="16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class moves</a:t>
            </a:r>
            <a:pPr indent="0" marL="0">
              <a:spcAft>
                <a:spcPts val="1600"/>
              </a:spcAft>
              <a:buNone/>
            </a:pPr>
            <a:endParaRPr lang="en-US" sz="2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sits in the middle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240280"/>
            <a:ext cx="246888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905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2514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336499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+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63824" y="3086100"/>
            <a:ext cx="210312" cy="0"/>
          </a:xfrm>
          <a:prstGeom prst="line">
            <a:avLst/>
          </a:prstGeom>
          <a:noFill/>
          <a:ln w="38100">
            <a:solidFill>
              <a:srgbClr val="E0533A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29000" y="2240280"/>
            <a:ext cx="2606040" cy="1691640"/>
          </a:xfrm>
          <a:prstGeom prst="roundRect">
            <a:avLst>
              <a:gd name="adj" fmla="val 4865"/>
            </a:avLst>
          </a:prstGeom>
          <a:solidFill>
            <a:srgbClr val="E0533A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20440" y="251460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 Cowork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520440" y="33649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content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89904" y="3086100"/>
            <a:ext cx="210312" cy="0"/>
          </a:xfrm>
          <a:prstGeom prst="line">
            <a:avLst/>
          </a:prstGeom>
          <a:noFill/>
          <a:ln w="38100">
            <a:solidFill>
              <a:srgbClr val="E0533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55080" y="2011680"/>
            <a:ext cx="2697480" cy="2148840"/>
          </a:xfrm>
          <a:prstGeom prst="roundRect">
            <a:avLst>
              <a:gd name="adj" fmla="val 3830"/>
            </a:avLst>
          </a:prstGeom>
          <a:solidFill>
            <a:srgbClr val="202A36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55080" y="24231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46520" y="32004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F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everything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07424" y="3086100"/>
            <a:ext cx="210312" cy="0"/>
          </a:xfrm>
          <a:prstGeom prst="line">
            <a:avLst/>
          </a:prstGeom>
          <a:noFill/>
          <a:ln w="38100">
            <a:solidFill>
              <a:srgbClr val="E0533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372600" y="2240280"/>
            <a:ext cx="2194560" cy="1691640"/>
          </a:xfrm>
          <a:prstGeom prst="roundRect">
            <a:avLst>
              <a:gd name="adj" fmla="val 4865"/>
            </a:avLst>
          </a:prstGeom>
          <a:solidFill>
            <a:srgbClr val="F5EFE9"/>
          </a:solidFill>
          <a:ln w="1905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464040" y="2514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464040" y="3364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 output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429000" y="1554480"/>
            <a:ext cx="26060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1554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in research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732020" y="2011680"/>
            <a:ext cx="0" cy="210312"/>
          </a:xfrm>
          <a:prstGeom prst="line">
            <a:avLst/>
          </a:prstGeom>
          <a:noFill/>
          <a:ln w="31750">
            <a:solidFill>
              <a:srgbClr val="E0533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469880" y="3931920"/>
            <a:ext cx="0" cy="594360"/>
          </a:xfrm>
          <a:prstGeom prst="line">
            <a:avLst/>
          </a:prstGeom>
          <a:noFill/>
          <a:ln w="31750">
            <a:solidFill>
              <a:srgbClr val="EF9A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03820" y="4526280"/>
            <a:ext cx="2766060" cy="0"/>
          </a:xfrm>
          <a:prstGeom prst="line">
            <a:avLst/>
          </a:prstGeom>
          <a:noFill/>
          <a:ln w="31750">
            <a:solidFill>
              <a:srgbClr val="EF9A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03820" y="4160520"/>
            <a:ext cx="0" cy="365760"/>
          </a:xfrm>
          <a:prstGeom prst="line">
            <a:avLst/>
          </a:prstGeom>
          <a:noFill/>
          <a:ln w="31750">
            <a:solidFill>
              <a:srgbClr val="EF9A85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7886700" y="44897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loops back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85800" y="5852160"/>
            <a:ext cx="10817352" cy="694944"/>
          </a:xfrm>
          <a:prstGeom prst="roundRect">
            <a:avLst>
              <a:gd name="adj" fmla="val 10526"/>
            </a:avLst>
          </a:prstGeom>
          <a:solidFill>
            <a:srgbClr val="F5EFE9"/>
          </a:solidFill>
          <a:ln w="12700">
            <a:solidFill>
              <a:srgbClr val="E053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852160"/>
            <a:ext cx="10817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and the AI never talk directly.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by design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never sees student data.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67512" y="2898648"/>
            <a:ext cx="118872" cy="21234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788920"/>
            <a:ext cx="72694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 stay offline</a:t>
            </a:r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read on your machine</a:t>
            </a:r>
            <a:pPr indent="0" marL="0">
              <a:spcAft>
                <a:spcPts val="14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 only</a:t>
            </a:r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never a name</a:t>
            </a:r>
            <a:pPr indent="0" marL="0">
              <a:spcAft>
                <a:spcPts val="14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in the middle</a:t>
            </a:r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every message routes through you</a:t>
            </a:r>
            <a:pPr indent="0" marL="0">
              <a:spcAft>
                <a:spcPts val="14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get a random ID</a:t>
            </a:r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S04, S17… the AI never knows names</a:t>
            </a:r>
            <a:pPr indent="0" marL="0">
              <a:spcAft>
                <a:spcPts val="1400"/>
              </a:spcAft>
              <a:buNone/>
            </a:pP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F5EFE9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320040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its mission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1732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gets ONE goal. Pick one: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518007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011680"/>
            <a:ext cx="109728" cy="1737360"/>
          </a:xfrm>
          <a:prstGeom prst="rect">
            <a:avLst/>
          </a:prstGeom>
          <a:solidFill>
            <a:srgbClr val="E0533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423160"/>
            <a:ext cx="914400" cy="914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40280" y="2249424"/>
            <a:ext cx="34427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Boost Attendance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2240280" y="2724912"/>
            <a:ext cx="34427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more people showing up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240280" y="3145536"/>
            <a:ext cx="344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Tracked: daily attendance %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323076" y="2011680"/>
            <a:ext cx="518007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23076" y="2011680"/>
            <a:ext cx="109728" cy="1737360"/>
          </a:xfrm>
          <a:prstGeom prst="rect">
            <a:avLst/>
          </a:prstGeom>
          <a:solidFill>
            <a:srgbClr val="E0533A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836" y="2423160"/>
            <a:ext cx="914400" cy="9144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877556" y="2249424"/>
            <a:ext cx="34427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Crush Missing Work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7877556" y="2724912"/>
            <a:ext cx="34427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late or missing assignments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877556" y="3145536"/>
            <a:ext cx="344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Tracked: on-time submissions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85800" y="4023360"/>
            <a:ext cx="518007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85800" y="4023360"/>
            <a:ext cx="109728" cy="1737360"/>
          </a:xfrm>
          <a:prstGeom prst="rect">
            <a:avLst/>
          </a:prstGeom>
          <a:solidFill>
            <a:srgbClr val="E0533A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4434840"/>
            <a:ext cx="914400" cy="9144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240280" y="4261104"/>
            <a:ext cx="34427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Up Participation</a:t>
            </a:r>
            <a:endParaRPr lang="en-US" sz="2200" dirty="0"/>
          </a:p>
        </p:txBody>
      </p:sp>
      <p:sp>
        <p:nvSpPr>
          <p:cNvPr id="22" name="Text 17"/>
          <p:cNvSpPr/>
          <p:nvPr/>
        </p:nvSpPr>
        <p:spPr>
          <a:xfrm>
            <a:off x="2240280" y="4736592"/>
            <a:ext cx="34427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people engaged in class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2240280" y="5157216"/>
            <a:ext cx="344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Tracked: participation score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6323076" y="4023360"/>
            <a:ext cx="518007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6323076" y="4023360"/>
            <a:ext cx="109728" cy="1737360"/>
          </a:xfrm>
          <a:prstGeom prst="rect">
            <a:avLst/>
          </a:prstGeom>
          <a:solidFill>
            <a:srgbClr val="E0533A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8836" y="4434840"/>
            <a:ext cx="914400" cy="9144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877556" y="4261104"/>
            <a:ext cx="34427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Clock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7877556" y="4736592"/>
            <a:ext cx="34427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tardiness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7877556" y="5157216"/>
            <a:ext cx="344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Tracked: daily tardy count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685800" y="612648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define your own goal.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folder it reads every session: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67512" y="2350008"/>
            <a:ext cx="118872" cy="31394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40280"/>
            <a:ext cx="726948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the one goal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Personality and voice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and limits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context</a:t>
            </a:r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aggregate, no names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Instructional style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8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resources</a:t>
            </a:r>
            <a:pPr indent="0" marL="0">
              <a:spcAft>
                <a:spcPts val="1200"/>
              </a:spcAft>
              <a:buNone/>
            </a:pP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F5EFE9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310896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constraints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28800"/>
            <a:ext cx="51800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286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86000" y="2194560"/>
            <a:ext cx="3351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personality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286000" y="2743200"/>
            <a:ext cx="3351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help name and shape it.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23076" y="1828800"/>
            <a:ext cx="51800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556" y="2286000"/>
            <a:ext cx="914400" cy="914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23276" y="2194560"/>
            <a:ext cx="3351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goal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7923276" y="2743200"/>
            <a:ext cx="3351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mission for the whole unit.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85800" y="3977640"/>
            <a:ext cx="51800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434840"/>
            <a:ext cx="914400" cy="914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286000" y="4343400"/>
            <a:ext cx="3351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Evidence-based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2286000" y="4892040"/>
            <a:ext cx="3351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defaults come from research.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6323076" y="3977640"/>
            <a:ext cx="5180076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556" y="4434840"/>
            <a:ext cx="914400" cy="914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923276" y="4343400"/>
            <a:ext cx="33512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Aggregated data only</a:t>
            </a:r>
            <a:endParaRPr lang="en-US" sz="2400" dirty="0"/>
          </a:p>
        </p:txBody>
      </p:sp>
      <p:sp>
        <p:nvSpPr>
          <p:cNvPr id="20" name="Text 14"/>
          <p:cNvSpPr/>
          <p:nvPr/>
        </p:nvSpPr>
        <p:spPr>
          <a:xfrm>
            <a:off x="7923276" y="4892040"/>
            <a:ext cx="3351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never sees individual students.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students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help shape it — and gain ownership: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67512" y="2395728"/>
            <a:ext cx="118872" cy="25298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286000"/>
            <a:ext cx="7269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vote on its name and personality</a:t>
            </a:r>
            <a:pPr indent="0" marL="0">
              <a:spcAft>
                <a:spcPts val="18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help choose its mission</a:t>
            </a:r>
            <a:pPr indent="0" marL="0">
              <a:spcAft>
                <a:spcPts val="18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Buy-in from day one</a:t>
            </a:r>
            <a:pPr indent="0" marL="0">
              <a:spcAft>
                <a:spcPts val="18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learn what AI can — and can't — do</a:t>
            </a:r>
            <a:pPr indent="0" marL="0">
              <a:spcAft>
                <a:spcPts val="1800"/>
              </a:spcAft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F5EFE9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30632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halves, two different jobs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83080"/>
            <a:ext cx="512064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7480" y="224028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3474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Cowork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1143000" y="416052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brain: thinks and creates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Makes slides, notes, and tools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Sees only aggregates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46520" y="1783080"/>
            <a:ext cx="5120640" cy="4114800"/>
          </a:xfrm>
          <a:prstGeom prst="roundRect">
            <a:avLst>
              <a:gd name="adj" fmla="val 2222"/>
            </a:avLst>
          </a:prstGeom>
          <a:solidFill>
            <a:srgbClr val="E0533A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240280"/>
            <a:ext cx="1097280" cy="10972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720840" y="347472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apps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903720" y="416052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data: does the number work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offline on your laptop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a name-free summary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 for classroom projectors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low contrast,
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screens.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85800" y="34747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600"/>
              </a:spcAft>
              <a:buNone/>
            </a:pPr>
            <a:r>
              <a:rPr lang="en-US" sz="2800" b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contrast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A83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text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126480" y="1600200"/>
            <a:ext cx="5376672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905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126480" y="1600200"/>
            <a:ext cx="5376672" cy="868680"/>
          </a:xfrm>
          <a:prstGeom prst="rect">
            <a:avLst/>
          </a:prstGeom>
          <a:solidFill>
            <a:srgbClr val="202A3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0" y="1600200"/>
            <a:ext cx="4828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Ocean Depths theme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46520" y="2724912"/>
            <a:ext cx="4736592" cy="530352"/>
          </a:xfrm>
          <a:prstGeom prst="roundRect">
            <a:avLst>
              <a:gd name="adj" fmla="val 8621"/>
            </a:avLst>
          </a:prstGeom>
          <a:solidFill>
            <a:srgbClr val="F1FAEE"/>
          </a:solidFill>
          <a:ln w="9525">
            <a:solidFill>
              <a:srgbClr val="E7DE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72491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Cream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46520" y="3383280"/>
            <a:ext cx="4736592" cy="530352"/>
          </a:xfrm>
          <a:prstGeom prst="roundRect">
            <a:avLst>
              <a:gd name="adj" fmla="val 8621"/>
            </a:avLst>
          </a:prstGeom>
          <a:solidFill>
            <a:srgbClr val="0D1B2A"/>
          </a:solidFill>
          <a:ln w="9525">
            <a:solidFill>
              <a:srgbClr val="E7DE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338328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Ink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446520" y="4041648"/>
            <a:ext cx="4736592" cy="530352"/>
          </a:xfrm>
          <a:prstGeom prst="roundRect">
            <a:avLst>
              <a:gd name="adj" fmla="val 8621"/>
            </a:avLst>
          </a:prstGeom>
          <a:solidFill>
            <a:srgbClr val="1A2332"/>
          </a:solidFill>
          <a:ln w="9525">
            <a:solidFill>
              <a:srgbClr val="E7DE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04164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navy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46520" y="4700016"/>
            <a:ext cx="4736592" cy="530352"/>
          </a:xfrm>
          <a:prstGeom prst="roundRect">
            <a:avLst>
              <a:gd name="adj" fmla="val 8621"/>
            </a:avLst>
          </a:prstGeom>
          <a:solidFill>
            <a:srgbClr val="1F6B6B"/>
          </a:solidFill>
          <a:ln w="9525">
            <a:solidFill>
              <a:srgbClr val="E7DE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70001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1FA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teal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46520" y="5358384"/>
            <a:ext cx="4736592" cy="530352"/>
          </a:xfrm>
          <a:prstGeom prst="roundRect">
            <a:avLst>
              <a:gd name="adj" fmla="val 8621"/>
            </a:avLst>
          </a:prstGeom>
          <a:solidFill>
            <a:srgbClr val="A8DADC"/>
          </a:solidFill>
          <a:ln w="9525">
            <a:solidFill>
              <a:srgbClr val="E7DE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0" y="535838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Seafoam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984248"/>
            <a:ext cx="118872" cy="27330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874520"/>
            <a:ext cx="745236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Aimed at a real class goal</a:t>
            </a:r>
            <a:pPr indent="0" marL="0">
              <a:spcAft>
                <a:spcPts val="22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class's AI, shaped by students</a:t>
            </a:r>
            <a:pPr indent="0" marL="0">
              <a:spcAft>
                <a:spcPts val="22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Research-backed, and it shows its work</a:t>
            </a:r>
            <a:pPr indent="0" marL="0">
              <a:spcAft>
                <a:spcPts val="2200"/>
              </a:spcAft>
              <a:buNone/>
            </a:pP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3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by design</a:t>
            </a:r>
            <a:pPr indent="0" marL="0">
              <a:spcAft>
                <a:spcPts val="2200"/>
              </a:spcAft>
              <a:buNone/>
            </a:pP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E0533A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0" y="31546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 — one class, one semester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4592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E0533A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719072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assignments, week one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202A36"/>
          </a:solidFill>
          <a:ln/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37947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6200" dirty="0"/>
          </a:p>
        </p:txBody>
      </p:sp>
      <p:sp>
        <p:nvSpPr>
          <p:cNvPr id="10" name="Text 8"/>
          <p:cNvSpPr/>
          <p:nvPr/>
        </p:nvSpPr>
        <p:spPr>
          <a:xfrm>
            <a:off x="822960" y="48920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F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missing work</a:t>
            </a:r>
            <a:endParaRPr lang="en-US" sz="1700" dirty="0"/>
          </a:p>
        </p:txBody>
      </p:sp>
      <p:pic>
        <p:nvPicPr>
          <p:cNvPr id="11" name="Image 0" descr="results_chart_co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49040" y="1554480"/>
            <a:ext cx="7863840" cy="36118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749040" y="55321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class named theirs Nolan.AI · one class · self-reported · directional, not proof.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420624"/>
            <a:ext cx="155448" cy="603504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Text 1"/>
          <p:cNvSpPr/>
          <p:nvPr/>
        </p:nvSpPr>
        <p:spPr>
          <a:xfrm>
            <a:off x="1051560" y="292608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need to run it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10817352" cy="0"/>
          </a:xfrm>
          <a:prstGeom prst="line">
            <a:avLst/>
          </a:prstGeom>
          <a:noFill/>
          <a:ln w="15875">
            <a:solidFill>
              <a:srgbClr val="E7D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" y="1984248"/>
            <a:ext cx="118872" cy="269494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874520"/>
            <a:ext cx="745236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Mac or Windows computer with Claude Cowork</a:t>
            </a:r>
            <a:pPr indent="0" marL="0">
              <a:spcAft>
                <a:spcPts val="15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Claude $20/month plan or higher</a:t>
            </a:r>
            <a:pPr indent="0" marL="0">
              <a:spcAft>
                <a:spcPts val="15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class you see regularly</a:t>
            </a:r>
            <a:pPr indent="0" marL="0">
              <a:spcAft>
                <a:spcPts val="15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gradebook you can export</a:t>
            </a:r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— CSV or Excel</a:t>
            </a:r>
            <a:pPr indent="0" marL="0">
              <a:spcAft>
                <a:spcPts val="1500"/>
              </a:spcAft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E05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 </a:t>
            </a:r>
            <a:pPr indent="0" marL="0">
              <a:buNone/>
            </a:pPr>
            <a:r>
              <a:rPr lang="en-US" sz="2600" b="1" dirty="0">
                <a:solidFill>
                  <a:srgbClr val="202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15–30 minutes, twice a week</a:t>
            </a:r>
            <a:pPr indent="0" marL="0">
              <a:spcAft>
                <a:spcPts val="1500"/>
              </a:spcAft>
              <a:buNone/>
            </a:pP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8686800" y="1554480"/>
            <a:ext cx="2834640" cy="4572000"/>
          </a:xfrm>
          <a:prstGeom prst="roundRect">
            <a:avLst>
              <a:gd name="adj" fmla="val 3226"/>
            </a:avLst>
          </a:prstGeom>
          <a:solidFill>
            <a:srgbClr val="F5EFE9"/>
          </a:solidFill>
          <a:ln w="12700">
            <a:solidFill>
              <a:srgbClr val="E7DED4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0" y="301752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A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0533A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2011680"/>
            <a:ext cx="2926080" cy="2926080"/>
          </a:xfrm>
          <a:prstGeom prst="ellipse">
            <a:avLst/>
          </a:prstGeom>
          <a:solidFill>
            <a:srgbClr val="E0533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3154680"/>
            <a:ext cx="914400" cy="914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" y="219456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without your students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914400" y="397764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F9A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dashboard, drop in the sample gradebook, and print a card. Then open the folder in Cowork and ask your AI for Monday's slide.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Classroom AI Bot</dc:title>
  <dc:subject>PptxGenJS Presentation</dc:subject>
  <dc:creator>MyClassroomAIbot</dc:creator>
  <cp:lastModifiedBy>MyClassroomAIbot</cp:lastModifiedBy>
  <cp:revision>1</cp:revision>
  <dcterms:created xsi:type="dcterms:W3CDTF">2026-06-11T18:38:44Z</dcterms:created>
  <dcterms:modified xsi:type="dcterms:W3CDTF">2026-06-11T18:38:44Z</dcterms:modified>
</cp:coreProperties>
</file>