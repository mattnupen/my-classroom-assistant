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18"/>
    <p:sldId id="265" r:id="rId11"/>
    <p:sldId id="273" r:id="rId19"/>
    <p:sldId id="260" r:id="rId6"/>
    <p:sldId id="261" r:id="rId7"/>
    <p:sldId id="262" r:id="rId8"/>
    <p:sldId id="263" r:id="rId9"/>
    <p:sldId id="264" r:id="rId10"/>
    <p:sldId id="270" r:id="rId16"/>
    <p:sldId id="266" r:id="rId12"/>
    <p:sldId id="267" r:id="rId13"/>
    <p:sldId id="268" r:id="rId14"/>
    <p:sldId id="269" r:id="rId15"/>
    <p:sldId id="271" r:id="rId17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920240"/>
            <a:ext cx="2743200" cy="2743200"/>
          </a:xfrm>
          <a:prstGeom prst="ellipse">
            <a:avLst/>
          </a:prstGeom>
          <a:solidFill>
            <a:srgbClr val="1F6B6B"/>
          </a:solidFill>
          <a:ln w="25400">
            <a:solidFill>
              <a:srgbClr val="A8DAD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578608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48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Classroom AI Bot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classroom AI help a class reach their goal?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MyClassroomAIbot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1801368"/>
            <a:ext cx="118872" cy="39014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10405872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</a:t>
            </a:r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 </a:t>
            </a:r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 </a:t>
            </a:r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 </a:t>
            </a:r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your AI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 </a:t>
            </a:r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 </a:t>
            </a:r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it up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5087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7432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semi-autonomous AI assistant help students and their teacher solve a problem in the classroom?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85800" y="484632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AI, give it a real job, and watch how it thinks.  Inspired by Project Vend.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semi-autonomous AI assistant for the classroom that focuses on one goal.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Anthropic's 'Project Vend' experiment.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" y="3355848"/>
            <a:ext cx="118872" cy="18186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46120"/>
            <a:ext cx="6446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evidence-based practices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Develops and continuously adjusts its own plan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and communicates through the teacher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experiment to learn about using AI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1A233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834640"/>
            <a:ext cx="182880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0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through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(Agentic AI)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2194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an employee or agent.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023360" y="3291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job — it makes a plan, does a variety of tasks, and comes back with the completed work.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vs. agentic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(chat)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51560" y="3977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prompt, it replies, then you do the work.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5120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step by step.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4652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F6B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103120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(agentic)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812280" y="3977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the task; it plans, does the steps, and delivers finished output.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812280" y="5120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Autonomous, multi-step.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2464308" cy="393192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5346" y="1965960"/>
            <a:ext cx="585216" cy="585216"/>
          </a:xfrm>
          <a:prstGeom prst="ellipse">
            <a:avLst/>
          </a:prstGeom>
          <a:solidFill>
            <a:srgbClr val="1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625346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34" y="278892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931920"/>
            <a:ext cx="2189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feeds it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2189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assignments, messages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70148" y="1645920"/>
            <a:ext cx="2464308" cy="393192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9694" y="1965960"/>
            <a:ext cx="585216" cy="585216"/>
          </a:xfrm>
          <a:prstGeom prst="ellipse">
            <a:avLst/>
          </a:prstGeom>
          <a:solidFill>
            <a:srgbClr val="1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4409694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382" y="2788920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07308" y="3931920"/>
            <a:ext cx="2189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+ plans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607308" y="4754880"/>
            <a:ext cx="2189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patterns, builds strategies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54496" y="1645920"/>
            <a:ext cx="2464308" cy="393192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94042" y="1965960"/>
            <a:ext cx="585216" cy="585216"/>
          </a:xfrm>
          <a:prstGeom prst="ellipse">
            <a:avLst/>
          </a:prstGeom>
          <a:solidFill>
            <a:srgbClr val="1F6B6B"/>
          </a:solidFill>
          <a:ln/>
        </p:spPr>
      </p:sp>
      <p:sp>
        <p:nvSpPr>
          <p:cNvPr id="19" name="Text 15"/>
          <p:cNvSpPr/>
          <p:nvPr/>
        </p:nvSpPr>
        <p:spPr>
          <a:xfrm>
            <a:off x="719404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730" y="2788920"/>
            <a:ext cx="1005840" cy="10058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3931920"/>
            <a:ext cx="2189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takes action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6391656" y="4754880"/>
            <a:ext cx="2189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messages, challenges, rewards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38844" y="1645920"/>
            <a:ext cx="2464308" cy="393192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78390" y="1965960"/>
            <a:ext cx="585216" cy="585216"/>
          </a:xfrm>
          <a:prstGeom prst="ellipse">
            <a:avLst/>
          </a:prstGeom>
          <a:solidFill>
            <a:srgbClr val="1F6B6B"/>
          </a:solidFill>
          <a:ln/>
        </p:spPr>
      </p:sp>
      <p:sp>
        <p:nvSpPr>
          <p:cNvPr id="25" name="Text 20"/>
          <p:cNvSpPr/>
          <p:nvPr/>
        </p:nvSpPr>
        <p:spPr>
          <a:xfrm>
            <a:off x="9978390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078" y="2788920"/>
            <a:ext cx="1005840" cy="10058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76004" y="3931920"/>
            <a:ext cx="2189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the results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9176004" y="4754880"/>
            <a:ext cx="2189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 updates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Loop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0604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1508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weekly: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53712" y="2395728"/>
            <a:ext cx="118872" cy="22250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8" name="Text 5"/>
          <p:cNvSpPr/>
          <p:nvPr/>
        </p:nvSpPr>
        <p:spPr>
          <a:xfrm>
            <a:off x="4983480" y="2286000"/>
            <a:ext cx="6446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provides updates and data</a:t>
            </a:r>
            <a:pPr indent="0" marL="0">
              <a:spcAft>
                <a:spcPts val="16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develops a plan and materials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research, constraints, history</a:t>
            </a:r>
            <a:pPr indent="0" marL="0">
              <a:spcAft>
                <a:spcPts val="16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reviews and implements</a:t>
            </a:r>
            <a:pPr indent="0" marL="0">
              <a:spcAft>
                <a:spcPts val="16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moves</a:t>
            </a:r>
            <a:pPr indent="0" marL="0">
              <a:spcAft>
                <a:spcPts val="1600"/>
              </a:spcAft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sits in the middle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+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63824" y="2994660"/>
            <a:ext cx="210312" cy="0"/>
          </a:xfrm>
          <a:prstGeom prst="line">
            <a:avLst/>
          </a:prstGeom>
          <a:noFill/>
          <a:ln w="38100">
            <a:solidFill>
              <a:srgbClr val="1F6B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21488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6B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423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Cowork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3273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content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9904" y="2994660"/>
            <a:ext cx="210312" cy="0"/>
          </a:xfrm>
          <a:prstGeom prst="line">
            <a:avLst/>
          </a:prstGeom>
          <a:noFill/>
          <a:ln w="38100">
            <a:solidFill>
              <a:srgbClr val="1F6B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192024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1A2332"/>
          </a:solidFill>
          <a:ln w="1905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4652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everything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07424" y="2994660"/>
            <a:ext cx="210312" cy="0"/>
          </a:xfrm>
          <a:prstGeom prst="line">
            <a:avLst/>
          </a:prstGeom>
          <a:noFill/>
          <a:ln w="38100">
            <a:solidFill>
              <a:srgbClr val="1F6B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148840"/>
            <a:ext cx="2194560" cy="1691640"/>
          </a:xfrm>
          <a:prstGeom prst="roundRect">
            <a:avLst>
              <a:gd name="adj" fmla="val 4865"/>
            </a:avLst>
          </a:prstGeom>
          <a:solidFill>
            <a:srgbClr val="A8DAD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6404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6404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output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29000" y="14630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1FAEE"/>
          </a:solidFill>
          <a:ln w="12700">
            <a:solidFill>
              <a:srgbClr val="1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research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32020" y="1920240"/>
            <a:ext cx="0" cy="210312"/>
          </a:xfrm>
          <a:prstGeom prst="line">
            <a:avLst/>
          </a:prstGeom>
          <a:noFill/>
          <a:ln w="31750">
            <a:solidFill>
              <a:srgbClr val="1F6B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469880" y="3840480"/>
            <a:ext cx="0" cy="59436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3820" y="4434840"/>
            <a:ext cx="2766060" cy="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3820" y="4069080"/>
            <a:ext cx="0" cy="365760"/>
          </a:xfrm>
          <a:prstGeom prst="line">
            <a:avLst/>
          </a:prstGeom>
          <a:noFill/>
          <a:ln w="31750">
            <a:solidFill>
              <a:srgbClr val="2D8B8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886700" y="43982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 back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5806440"/>
            <a:ext cx="10817352" cy="713232"/>
          </a:xfrm>
          <a:prstGeom prst="roundRect">
            <a:avLst>
              <a:gd name="adj" fmla="val 10256"/>
            </a:avLst>
          </a:prstGeom>
          <a:solidFill>
            <a:srgbClr val="A8DAD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806440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3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the AI never talk directly.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never sees student data.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67512" y="2807208"/>
            <a:ext cx="118872" cy="21234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97480"/>
            <a:ext cx="7269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stay offline</a:t>
            </a:r>
            <a:pPr indent="0" marL="0">
              <a:buNone/>
            </a:pPr>
            <a:r>
              <a:rPr lang="en-US" sz="20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read on your machine</a:t>
            </a:r>
            <a:pPr indent="0" marL="0">
              <a:spcAft>
                <a:spcPts val="14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only</a:t>
            </a:r>
            <a:pPr indent="0" marL="0">
              <a:buNone/>
            </a:pPr>
            <a:r>
              <a:rPr lang="en-US" sz="20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never a name</a:t>
            </a:r>
            <a:pPr indent="0" marL="0">
              <a:spcAft>
                <a:spcPts val="14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in the middle</a:t>
            </a:r>
            <a:pPr indent="0" marL="0">
              <a:buNone/>
            </a:pPr>
            <a:r>
              <a:rPr lang="en-US" sz="20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every message routes through you</a:t>
            </a:r>
            <a:pPr indent="0" marL="0">
              <a:spcAft>
                <a:spcPts val="14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get a random ID</a:t>
            </a:r>
            <a:pPr indent="0" marL="0">
              <a:buNone/>
            </a:pPr>
            <a:r>
              <a:rPr lang="en-US" sz="20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S04, S17… the AI never knows names</a:t>
            </a:r>
            <a:pPr indent="0" marL="0">
              <a:spcAft>
                <a:spcPts val="1400"/>
              </a:spcAft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1A233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31089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its mission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gets ONE goal. Pick one: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18007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20240"/>
            <a:ext cx="109728" cy="1783080"/>
          </a:xfrm>
          <a:prstGeom prst="rect">
            <a:avLst/>
          </a:prstGeom>
          <a:solidFill>
            <a:srgbClr val="1F6B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5458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2176272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Attendance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40280" y="2651760"/>
            <a:ext cx="3442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more people showing up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240280" y="3090672"/>
            <a:ext cx="3442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Tracked: daily attendance 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23076" y="1920240"/>
            <a:ext cx="518007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3076" y="1920240"/>
            <a:ext cx="109728" cy="1783080"/>
          </a:xfrm>
          <a:prstGeom prst="rect">
            <a:avLst/>
          </a:prstGeom>
          <a:solidFill>
            <a:srgbClr val="1F6B6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235458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77556" y="2176272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Crush Missing Work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877556" y="2651760"/>
            <a:ext cx="3442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late or missing assignments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877556" y="3090672"/>
            <a:ext cx="3442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Tracked: on-time submissions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85800" y="3977640"/>
            <a:ext cx="518007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977640"/>
            <a:ext cx="109728" cy="1783080"/>
          </a:xfrm>
          <a:prstGeom prst="rect">
            <a:avLst/>
          </a:prstGeom>
          <a:solidFill>
            <a:srgbClr val="1F6B6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11980"/>
            <a:ext cx="914400" cy="914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40280" y="4233672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Up Participation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2240280" y="4709160"/>
            <a:ext cx="3442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people engaged in class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2240280" y="5148072"/>
            <a:ext cx="3442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Tracked: participation score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323076" y="3977640"/>
            <a:ext cx="518007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23076" y="3977640"/>
            <a:ext cx="109728" cy="1783080"/>
          </a:xfrm>
          <a:prstGeom prst="rect">
            <a:avLst/>
          </a:prstGeom>
          <a:solidFill>
            <a:srgbClr val="1F6B6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36" y="4411980"/>
            <a:ext cx="914400" cy="9144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877556" y="4233672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Clock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877556" y="4709160"/>
            <a:ext cx="3442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tardiness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877556" y="5148072"/>
            <a:ext cx="3442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Tracked: daily tardy count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5800" y="608076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define your own goal.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folder it reads every session: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" y="2258568"/>
            <a:ext cx="118872" cy="31394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726948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pPr indent="0" marL="0">
              <a:buNone/>
            </a:pPr>
            <a:r>
              <a:rPr lang="en-US" sz="22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the one goal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and voice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and limits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context</a:t>
            </a:r>
            <a:pPr indent="0" marL="0">
              <a:buNone/>
            </a:pPr>
            <a:r>
              <a:rPr lang="en-US" sz="22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aggregate, no names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Instructional style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resources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1A233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31089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constraints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4884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personality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6000" y="269748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help name and shape it.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3076" y="178308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2402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3276" y="214884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goal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923276" y="269748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 for the whole unit.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93192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9120"/>
            <a:ext cx="914400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0" y="429768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2286000" y="484632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defaults come from research.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323076" y="393192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56" y="4389120"/>
            <a:ext cx="914400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23276" y="429768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data only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923276" y="484632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sees individual students.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students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help shape it — and gain ownership: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" y="2304288"/>
            <a:ext cx="118872" cy="25298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7269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vote on its name and personality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help choose its mission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Buy-in from day one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learn what AI can — and can't — do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1A233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200400"/>
            <a:ext cx="1554480" cy="1554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0" y="1554480"/>
            <a:ext cx="2834640" cy="457200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halves, two different jobs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1488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4069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brain: thinks and creates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slides, notes, and tools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only aggregates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46520" y="16916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1F6B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2148840"/>
            <a:ext cx="109728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apps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903720" y="4069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data: does the number work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offline on your laptop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 name-free summary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for classroom projectors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low contrast,
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screens.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76672" cy="4572000"/>
          </a:xfrm>
          <a:prstGeom prst="roundRect">
            <a:avLst>
              <a:gd name="adj" fmla="val 2000"/>
            </a:avLst>
          </a:prstGeom>
          <a:solidFill>
            <a:srgbClr val="F1FAEE"/>
          </a:solidFill>
          <a:ln w="19050">
            <a:solidFill>
              <a:srgbClr val="A8DA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554480"/>
            <a:ext cx="5376672" cy="8686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554480"/>
            <a:ext cx="4828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Depths theme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46520" y="2697480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F1FAEE"/>
          </a:solidFill>
          <a:ln w="9525">
            <a:solidFill>
              <a:srgbClr val="A8DA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6974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46520" y="3355848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0D1B2A"/>
          </a:solidFill>
          <a:ln w="9525">
            <a:solidFill>
              <a:srgbClr val="A8DA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3558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4014216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1A2332"/>
          </a:solidFill>
          <a:ln w="9525">
            <a:solidFill>
              <a:srgbClr val="A8DA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0142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46520" y="4672584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1F6B6B"/>
          </a:solidFill>
          <a:ln w="9525">
            <a:solidFill>
              <a:srgbClr val="A8DA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6725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5330952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A8DADC"/>
          </a:solidFill>
          <a:ln w="9525">
            <a:solidFill>
              <a:srgbClr val="A8DA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5330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Seafoam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1892808"/>
            <a:ext cx="118872" cy="27330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74523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 a real class goal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class's AI, shaped by students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Research-backed, and it shows its work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1F6B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31546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— one class, one semester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1F6B6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2763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assignments, week one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6118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1A233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7033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missing work</a:t>
            </a:r>
            <a:endParaRPr lang="en-US" sz="1700" dirty="0"/>
          </a:p>
        </p:txBody>
      </p:sp>
      <p:pic>
        <p:nvPicPr>
          <p:cNvPr id="11" name="Image 0" descr="results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49040" y="1463040"/>
            <a:ext cx="786384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49040" y="5440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class named theirs Nolan.AI · one class · self-reported · directional, not proof.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0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 to run it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1892808"/>
            <a:ext cx="118872" cy="269494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74523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 or Windows computer with Claude Cowork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 $20/month plan or higher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you see regularly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gradebook you can export</a:t>
            </a:r>
            <a:pPr indent="0" marL="0">
              <a:buNone/>
            </a:pPr>
            <a:r>
              <a:rPr lang="en-US" sz="2000" dirty="0">
                <a:solidFill>
                  <a:srgbClr val="53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CSV or Excel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minutes, twice a week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1A233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32461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2011680"/>
            <a:ext cx="2926080" cy="2926080"/>
          </a:xfrm>
          <a:prstGeom prst="ellipse">
            <a:avLst/>
          </a:prstGeom>
          <a:solidFill>
            <a:srgbClr val="1F6B6B"/>
          </a:solidFill>
          <a:ln w="25400">
            <a:solidFill>
              <a:srgbClr val="A8DAD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1546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9456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without your students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dashboard, drop in the sample gradebook, and print a card. Then open the folder in Cowork and ask your AI for Monday's slide.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Classroom AI Bot</dc:title>
  <dc:subject>PptxGenJS Presentation</dc:subject>
  <dc:creator>MyClassroomAIbot</dc:creator>
  <cp:lastModifiedBy>MyClassroomAIbot</cp:lastModifiedBy>
  <cp:revision>1</cp:revision>
  <dcterms:created xsi:type="dcterms:W3CDTF">2026-06-11T18:29:45Z</dcterms:created>
  <dcterms:modified xsi:type="dcterms:W3CDTF">2026-06-11T18:29:45Z</dcterms:modified>
</cp:coreProperties>
</file>