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2" r:id="rId18"/>
    <p:sldId id="259" r:id="rId5"/>
    <p:sldId id="267" r:id="rId13"/>
    <p:sldId id="268" r:id="rId14"/>
    <p:sldId id="260" r:id="rId6"/>
    <p:sldId id="271" r:id="rId17"/>
    <p:sldId id="261" r:id="rId7"/>
    <p:sldId id="262" r:id="rId8"/>
    <p:sldId id="263" r:id="rId9"/>
    <p:sldId id="264" r:id="rId10"/>
    <p:sldId id="265" r:id="rId11"/>
    <p:sldId id="266" r:id="rId12"/>
    <p:sldId id="269" r:id="rId15"/>
    <p:sldId id="270" r:id="rId16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920240"/>
            <a:ext cx="2743200" cy="2743200"/>
          </a:xfrm>
          <a:prstGeom prst="ellipse">
            <a:avLst/>
          </a:prstGeom>
          <a:solidFill>
            <a:srgbClr val="E053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2578608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1488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Classroom AI Bot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9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classroom AI help a class reach their goal?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MyClassroomAIbot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892808"/>
            <a:ext cx="118872" cy="3901440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83080"/>
            <a:ext cx="1040587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 </a:t>
            </a:r>
            <a:pPr indent="0" marL="0">
              <a:buNone/>
            </a:pPr>
            <a:r>
              <a:rPr lang="en-US" sz="3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 </a:t>
            </a:r>
            <a:pPr indent="0" marL="0">
              <a:buNone/>
            </a:pPr>
            <a:r>
              <a:rPr lang="en-US" sz="3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 </a:t>
            </a:r>
            <a:pPr indent="0" marL="0">
              <a:buNone/>
            </a:pPr>
            <a:r>
              <a:rPr lang="en-US" sz="3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 </a:t>
            </a:r>
            <a:pPr indent="0" marL="0">
              <a:buNone/>
            </a:pPr>
            <a:r>
              <a:rPr lang="en-US" sz="3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 your AI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 </a:t>
            </a:r>
            <a:pPr indent="0" marL="0">
              <a:buNone/>
            </a:pPr>
            <a:r>
              <a:rPr lang="en-US" sz="3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 </a:t>
            </a:r>
            <a:pPr indent="0" marL="0">
              <a:buNone/>
            </a:pPr>
            <a:r>
              <a:rPr lang="en-US" sz="3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it up</a:t>
            </a:r>
            <a:pPr indent="0" marL="0">
              <a:spcAft>
                <a:spcPts val="1800"/>
              </a:spcAft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78892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semi-autonomous AI assistant help students and their teacher solve a problem in the classroom?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85800" y="48920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AI, give it a real job, and watch how it thinks.  Inspired by Project Vend.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semi-autonomous AI assistant for the classroom that focuses on one goal.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Anthropic's 'Project Vend' experiment.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" y="3401568"/>
            <a:ext cx="118872" cy="1818640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91840"/>
            <a:ext cx="6446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evidence-based practices</a:t>
            </a:r>
            <a:pPr indent="0" marL="0">
              <a:spcAft>
                <a:spcPts val="1200"/>
              </a:spcAft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Develops and continuously adjusts its own plan</a:t>
            </a:r>
            <a:pPr indent="0" marL="0">
              <a:spcAft>
                <a:spcPts val="1200"/>
              </a:spcAft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and communicates through the teacher</a:t>
            </a:r>
            <a:pPr indent="0" marL="0">
              <a:spcAft>
                <a:spcPts val="1200"/>
              </a:spcAft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experiment to learn about using AI</a:t>
            </a:r>
            <a:pPr indent="0" marL="0">
              <a:spcAft>
                <a:spcPts val="1200"/>
              </a:spcAft>
              <a:buNone/>
            </a:pP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0" y="1554480"/>
            <a:ext cx="2834640" cy="4572000"/>
          </a:xfrm>
          <a:prstGeom prst="roundRect">
            <a:avLst>
              <a:gd name="adj" fmla="val 3226"/>
            </a:avLst>
          </a:prstGeom>
          <a:solidFill>
            <a:srgbClr val="F5EFE9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828800"/>
            <a:ext cx="1828800" cy="1828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69680" y="38404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through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vs. Cowork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53328" y="1554480"/>
            <a:ext cx="0" cy="4526280"/>
          </a:xfrm>
          <a:prstGeom prst="line">
            <a:avLst/>
          </a:prstGeom>
          <a:noFill/>
          <a:ln w="19050">
            <a:solidFill>
              <a:srgbClr val="E7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(chat)</a:t>
            </a:r>
            <a:endParaRPr lang="en-US" sz="2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84832"/>
            <a:ext cx="731520" cy="731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2084832"/>
            <a:ext cx="731520" cy="731520"/>
          </a:xfrm>
          <a:prstGeom prst="ellipse">
            <a:avLst/>
          </a:prstGeom>
          <a:solidFill>
            <a:srgbClr val="E0533A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2084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709160" y="3794760"/>
            <a:ext cx="731520" cy="731520"/>
          </a:xfrm>
          <a:prstGeom prst="ellipse">
            <a:avLst/>
          </a:prstGeom>
          <a:solidFill>
            <a:srgbClr val="E0533A"/>
          </a:solidFill>
          <a:ln/>
        </p:spPr>
      </p:sp>
      <p:sp>
        <p:nvSpPr>
          <p:cNvPr id="11" name="Text 8"/>
          <p:cNvSpPr/>
          <p:nvPr/>
        </p:nvSpPr>
        <p:spPr>
          <a:xfrm>
            <a:off x="4709160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507492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4597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type a prompt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325880" y="2788920"/>
            <a:ext cx="3337560" cy="0"/>
          </a:xfrm>
          <a:prstGeom prst="line">
            <a:avLst/>
          </a:prstGeom>
          <a:noFill/>
          <a:ln w="3175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1188720" y="302666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responds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 flipH="1">
            <a:off x="1325880" y="3355848"/>
            <a:ext cx="3337560" cy="0"/>
          </a:xfrm>
          <a:prstGeom prst="line">
            <a:avLst/>
          </a:prstGeom>
          <a:noFill/>
          <a:ln w="3175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1188720" y="3593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copy, paste, prompt again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325880" y="3922776"/>
            <a:ext cx="3337560" cy="0"/>
          </a:xfrm>
          <a:prstGeom prst="line">
            <a:avLst/>
          </a:prstGeom>
          <a:noFill/>
          <a:ln w="3175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1188720" y="41605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responds again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 flipH="1">
            <a:off x="1325880" y="4489704"/>
            <a:ext cx="3337560" cy="0"/>
          </a:xfrm>
          <a:prstGeom prst="line">
            <a:avLst/>
          </a:prstGeom>
          <a:noFill/>
          <a:ln w="3175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1188720" y="47274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the work with the output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325880" y="5056632"/>
            <a:ext cx="3337560" cy="0"/>
          </a:xfrm>
          <a:prstGeom prst="line">
            <a:avLst/>
          </a:prstGeom>
          <a:noFill/>
          <a:ln w="3175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23" name="Text 19"/>
          <p:cNvSpPr/>
          <p:nvPr/>
        </p:nvSpPr>
        <p:spPr>
          <a:xfrm>
            <a:off x="457200" y="5806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manual, step-by-step — high effort.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309360" y="14630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(agentic)</a:t>
            </a:r>
            <a:endParaRPr lang="en-US" sz="2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685800" cy="6858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1780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task once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 flipH="1" flipV="1">
            <a:off x="7490367" y="3375465"/>
            <a:ext cx="1516473" cy="282135"/>
          </a:xfrm>
          <a:prstGeom prst="line">
            <a:avLst/>
          </a:prstGeom>
          <a:noFill/>
          <a:ln w="2540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 flipV="1">
            <a:off x="9006840" y="3316754"/>
            <a:ext cx="1295214" cy="340846"/>
          </a:xfrm>
          <a:prstGeom prst="line">
            <a:avLst/>
          </a:prstGeom>
          <a:noFill/>
          <a:ln w="2540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 flipH="1">
            <a:off x="7440106" y="3657600"/>
            <a:ext cx="1566734" cy="874456"/>
          </a:xfrm>
          <a:prstGeom prst="line">
            <a:avLst/>
          </a:prstGeom>
          <a:noFill/>
          <a:ln w="2540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9006840" y="3657600"/>
            <a:ext cx="1350802" cy="853138"/>
          </a:xfrm>
          <a:prstGeom prst="line">
            <a:avLst/>
          </a:prstGeom>
          <a:noFill/>
          <a:ln w="2540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6995160" y="2697480"/>
            <a:ext cx="1444752" cy="393192"/>
          </a:xfrm>
          <a:prstGeom prst="line">
            <a:avLst/>
          </a:prstGeom>
          <a:noFill/>
          <a:ln w="3175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8366760" y="3017520"/>
            <a:ext cx="1280160" cy="1280160"/>
          </a:xfrm>
          <a:prstGeom prst="ellipse">
            <a:avLst/>
          </a:prstGeom>
          <a:solidFill>
            <a:srgbClr val="E0533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3273552"/>
            <a:ext cx="768096" cy="768096"/>
          </a:xfrm>
          <a:prstGeom prst="rect">
            <a:avLst/>
          </a:prstGeom>
        </p:spPr>
      </p:pic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971800"/>
            <a:ext cx="640080" cy="6400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98932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&amp; docs</a:t>
            </a:r>
            <a:endParaRPr lang="en-US" sz="125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880360"/>
            <a:ext cx="640080" cy="6400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692640" y="3566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map</a:t>
            </a:r>
            <a:endParaRPr lang="en-US" sz="12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4434840"/>
            <a:ext cx="640080" cy="6400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989320" y="5120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25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434840"/>
            <a:ext cx="640080" cy="6400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692640" y="5120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6355080" y="5486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autonomously, then hands you finished work to review.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6355080" y="5897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83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autonomous, multi-step — low effort.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601200" y="16916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202A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601200" y="36576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E0533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0" y="3657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app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023360" y="2148840"/>
            <a:ext cx="5532120" cy="0"/>
          </a:xfrm>
          <a:prstGeom prst="line">
            <a:avLst/>
          </a:prstGeom>
          <a:noFill/>
          <a:ln w="31750">
            <a:solidFill>
              <a:srgbClr val="C9B9AD"/>
            </a:solidFill>
            <a:prstDash val="dash"/>
            <a:tailEnd type="triangle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37360"/>
            <a:ext cx="868680" cy="868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5488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sent raw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23360" y="4160520"/>
            <a:ext cx="5577840" cy="0"/>
          </a:xfrm>
          <a:prstGeom prst="line">
            <a:avLst/>
          </a:prstGeom>
          <a:noFill/>
          <a:ln w="3175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0469880" y="2606040"/>
            <a:ext cx="0" cy="1051560"/>
          </a:xfrm>
          <a:prstGeom prst="line">
            <a:avLst/>
          </a:prstGeom>
          <a:noFill/>
          <a:ln w="31750">
            <a:solidFill>
              <a:srgbClr val="E0533A"/>
            </a:solidFill>
            <a:prstDash val="solid"/>
            <a:headEnd type="triangle"/>
          </a:ln>
        </p:spPr>
      </p:sp>
      <p:sp>
        <p:nvSpPr>
          <p:cNvPr id="17" name="Text 14"/>
          <p:cNvSpPr/>
          <p:nvPr/>
        </p:nvSpPr>
        <p:spPr>
          <a:xfrm>
            <a:off x="731520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3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cleaned, aggregate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5800" y="5120640"/>
            <a:ext cx="10817352" cy="1051560"/>
          </a:xfrm>
          <a:prstGeom prst="roundRect">
            <a:avLst>
              <a:gd name="adj" fmla="val 8696"/>
            </a:avLst>
          </a:prstGeom>
          <a:solidFill>
            <a:srgbClr val="F5EFE9"/>
          </a:solidFill>
          <a:ln w="12700">
            <a:solidFill>
              <a:srgbClr val="E053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512064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3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/teacher-app-builder</a:t>
            </a:r>
            <a:pPr indent="0" marL="0">
              <a:buNone/>
            </a:pPr>
            <a:r>
              <a:rPr lang="en-US" sz="2200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builds apps that live on your computer to handle student data.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its mission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challenge for it to tackle: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33619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3852" y="237744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work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413504" y="2057400"/>
            <a:ext cx="33619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6" y="2377440"/>
            <a:ext cx="1005840" cy="1005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0664" y="342900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141208" y="2057400"/>
            <a:ext cx="33619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260" y="2377440"/>
            <a:ext cx="1005840" cy="1005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8368" y="342900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5800" y="4297680"/>
            <a:ext cx="33619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852" y="4617720"/>
            <a:ext cx="1005840" cy="10058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60" y="566928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4413504" y="4297680"/>
            <a:ext cx="33619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4617720"/>
            <a:ext cx="1005840" cy="10058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50664" y="566928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</a:t>
            </a:r>
            <a:endParaRPr lang="en-US" sz="2000" dirty="0"/>
          </a:p>
        </p:txBody>
      </p:sp>
      <p:sp>
        <p:nvSpPr>
          <p:cNvPr id="21" name="Shape 14"/>
          <p:cNvSpPr/>
          <p:nvPr/>
        </p:nvSpPr>
        <p:spPr>
          <a:xfrm>
            <a:off x="8141208" y="4297680"/>
            <a:ext cx="336194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9260" y="4617720"/>
            <a:ext cx="1005840" cy="10058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278368" y="5669280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Routines</a:t>
            </a:r>
            <a:endParaRPr lang="en-US" sz="2000" dirty="0"/>
          </a:p>
        </p:txBody>
      </p:sp>
      <p:sp>
        <p:nvSpPr>
          <p:cNvPr id="24" name="Text 16"/>
          <p:cNvSpPr/>
          <p:nvPr/>
        </p:nvSpPr>
        <p:spPr>
          <a:xfrm>
            <a:off x="685800" y="626364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define your own.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folder it reads every session: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7512" y="2350008"/>
            <a:ext cx="118872" cy="3139440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40280"/>
            <a:ext cx="7269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pPr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the one goal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and voice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and limits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context</a:t>
            </a:r>
            <a:pPr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aggregate, no names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Instructional style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8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resources</a:t>
            </a:r>
            <a:pPr indent="0" marL="0">
              <a:spcAft>
                <a:spcPts val="1200"/>
              </a:spcAft>
              <a:buNone/>
            </a:pP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686800" y="1554480"/>
            <a:ext cx="2834640" cy="4572000"/>
          </a:xfrm>
          <a:prstGeom prst="roundRect">
            <a:avLst>
              <a:gd name="adj" fmla="val 3226"/>
            </a:avLst>
          </a:prstGeom>
          <a:solidFill>
            <a:srgbClr val="F5EFE9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1089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constraints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51800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860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194560"/>
            <a:ext cx="3351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personality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286000" y="2743200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help name and shape it.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23076" y="1828800"/>
            <a:ext cx="51800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228600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23276" y="2194560"/>
            <a:ext cx="3351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goal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923276" y="2743200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mission for the whole unit.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977640"/>
            <a:ext cx="51800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34840"/>
            <a:ext cx="914400" cy="914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86000" y="4343400"/>
            <a:ext cx="3351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2286000" y="4892040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defaults come from research.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323076" y="3977640"/>
            <a:ext cx="518007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556" y="4434840"/>
            <a:ext cx="914400" cy="914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23276" y="4343400"/>
            <a:ext cx="3351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data only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7923276" y="4892040"/>
            <a:ext cx="33512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sees individual students.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students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help shape it — and gain ownership: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7512" y="2395728"/>
            <a:ext cx="118872" cy="2529840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7269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vote on its name and personality</a:t>
            </a:r>
            <a:pPr indent="0" marL="0">
              <a:spcAft>
                <a:spcPts val="18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help choose its mission</a:t>
            </a:r>
            <a:pPr indent="0" marL="0">
              <a:spcAft>
                <a:spcPts val="18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Buy-in from day one</a:t>
            </a:r>
            <a:pPr indent="0" marL="0">
              <a:spcAft>
                <a:spcPts val="18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learn what AI can — and can't — do</a:t>
            </a:r>
            <a:pPr indent="0" marL="0">
              <a:spcAft>
                <a:spcPts val="1800"/>
              </a:spcAft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686800" y="1554480"/>
            <a:ext cx="2834640" cy="4572000"/>
          </a:xfrm>
          <a:prstGeom prst="roundRect">
            <a:avLst>
              <a:gd name="adj" fmla="val 3226"/>
            </a:avLst>
          </a:prstGeom>
          <a:solidFill>
            <a:srgbClr val="F5EFE9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306324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 for classroom projectors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low contrast,
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screens.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34747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A83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contrast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A83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text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376672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905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600200"/>
            <a:ext cx="5376672" cy="868680"/>
          </a:xfrm>
          <a:prstGeom prst="rect">
            <a:avLst/>
          </a:prstGeom>
          <a:solidFill>
            <a:srgbClr val="202A3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00200"/>
            <a:ext cx="4828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Depths theme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46520" y="2724912"/>
            <a:ext cx="4736592" cy="530352"/>
          </a:xfrm>
          <a:prstGeom prst="roundRect">
            <a:avLst>
              <a:gd name="adj" fmla="val 8621"/>
            </a:avLst>
          </a:prstGeom>
          <a:solidFill>
            <a:srgbClr val="F1FAEE"/>
          </a:solidFill>
          <a:ln w="9525">
            <a:solidFill>
              <a:srgbClr val="E7DE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7249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46520" y="3383280"/>
            <a:ext cx="4736592" cy="530352"/>
          </a:xfrm>
          <a:prstGeom prst="roundRect">
            <a:avLst>
              <a:gd name="adj" fmla="val 8621"/>
            </a:avLst>
          </a:prstGeom>
          <a:solidFill>
            <a:srgbClr val="0D1B2A"/>
          </a:solidFill>
          <a:ln w="9525">
            <a:solidFill>
              <a:srgbClr val="E7DE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3832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46520" y="4041648"/>
            <a:ext cx="4736592" cy="530352"/>
          </a:xfrm>
          <a:prstGeom prst="roundRect">
            <a:avLst>
              <a:gd name="adj" fmla="val 8621"/>
            </a:avLst>
          </a:prstGeom>
          <a:solidFill>
            <a:srgbClr val="1A2332"/>
          </a:solidFill>
          <a:ln w="9525">
            <a:solidFill>
              <a:srgbClr val="E7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404164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navy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46520" y="4700016"/>
            <a:ext cx="4736592" cy="530352"/>
          </a:xfrm>
          <a:prstGeom prst="roundRect">
            <a:avLst>
              <a:gd name="adj" fmla="val 8621"/>
            </a:avLst>
          </a:prstGeom>
          <a:solidFill>
            <a:srgbClr val="1F6B6B"/>
          </a:solidFill>
          <a:ln w="9525">
            <a:solidFill>
              <a:srgbClr val="E7DE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70001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teal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46520" y="5358384"/>
            <a:ext cx="4736592" cy="530352"/>
          </a:xfrm>
          <a:prstGeom prst="roundRect">
            <a:avLst>
              <a:gd name="adj" fmla="val 8621"/>
            </a:avLst>
          </a:prstGeom>
          <a:solidFill>
            <a:srgbClr val="A8DADC"/>
          </a:solidFill>
          <a:ln w="9525">
            <a:solidFill>
              <a:srgbClr val="E7DE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535838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Seafoam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984248"/>
            <a:ext cx="118872" cy="2733040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74520"/>
            <a:ext cx="7452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Aimed at a real class goal</a:t>
            </a:r>
            <a:pPr indent="0" marL="0">
              <a:spcAft>
                <a:spcPts val="22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class's AI, shaped by students</a:t>
            </a:r>
            <a:pPr indent="0" marL="0">
              <a:spcAft>
                <a:spcPts val="22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Research-backed, and it shows its work</a:t>
            </a:r>
            <a:pPr indent="0" marL="0">
              <a:spcAft>
                <a:spcPts val="2200"/>
              </a:spcAft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3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</a:t>
            </a:r>
            <a:pPr indent="0" marL="0">
              <a:spcAft>
                <a:spcPts val="2200"/>
              </a:spcAft>
              <a:buNone/>
            </a:pP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0" y="1554480"/>
            <a:ext cx="2834640" cy="4572000"/>
          </a:xfrm>
          <a:prstGeom prst="roundRect">
            <a:avLst>
              <a:gd name="adj" fmla="val 3226"/>
            </a:avLst>
          </a:prstGeom>
          <a:solidFill>
            <a:srgbClr val="E0533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31546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 — one class, one semester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E0533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71907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assignments, week one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202A36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7947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F9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missing work</a:t>
            </a:r>
            <a:endParaRPr lang="en-US" sz="1700" dirty="0"/>
          </a:p>
        </p:txBody>
      </p:sp>
      <p:pic>
        <p:nvPicPr>
          <p:cNvPr id="11" name="Image 0" descr="results_chart_cor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49040" y="1554480"/>
            <a:ext cx="7863840" cy="3611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749040" y="5532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class named theirs Nolan.AI · one class · self-reported · directional, not proof.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need to run it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984248"/>
            <a:ext cx="118872" cy="2694940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74520"/>
            <a:ext cx="74523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 or Windows computer with Claude Cowork</a:t>
            </a:r>
            <a:pPr indent="0" marL="0">
              <a:spcAft>
                <a:spcPts val="15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Claude $20/month plan or higher</a:t>
            </a:r>
            <a:pPr indent="0" marL="0">
              <a:spcAft>
                <a:spcPts val="15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 you see regularly</a:t>
            </a:r>
            <a:pPr indent="0" marL="0">
              <a:spcAft>
                <a:spcPts val="15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gradebook you can export</a:t>
            </a:r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CSV or Excel</a:t>
            </a:r>
            <a:pPr indent="0" marL="0">
              <a:spcAft>
                <a:spcPts val="1500"/>
              </a:spcAft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05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26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 minutes, twice a week</a:t>
            </a:r>
            <a:pPr indent="0" marL="0">
              <a:spcAft>
                <a:spcPts val="1500"/>
              </a:spcAft>
              <a:buNone/>
            </a:pP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686800" y="1554480"/>
            <a:ext cx="2834640" cy="4572000"/>
          </a:xfrm>
          <a:prstGeom prst="roundRect">
            <a:avLst>
              <a:gd name="adj" fmla="val 3226"/>
            </a:avLst>
          </a:prstGeom>
          <a:solidFill>
            <a:srgbClr val="F5EFE9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30175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0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2011680"/>
            <a:ext cx="2926080" cy="2926080"/>
          </a:xfrm>
          <a:prstGeom prst="ellipse">
            <a:avLst/>
          </a:prstGeom>
          <a:solidFill>
            <a:srgbClr val="E053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31546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19456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without your students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F9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dashboard, drop in the sample gradebook, and print a card. Then open the folder in Cowork and ask your AI for Monday's slide.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320040" cy="0"/>
          </a:xfrm>
          <a:prstGeom prst="line">
            <a:avLst/>
          </a:prstGeom>
          <a:noFill/>
          <a:ln w="25400">
            <a:solidFill>
              <a:srgbClr val="1423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320040"/>
          </a:xfrm>
          <a:prstGeom prst="line">
            <a:avLst/>
          </a:prstGeom>
          <a:noFill/>
          <a:ln w="25400">
            <a:solidFill>
              <a:srgbClr val="1423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57432" y="411480"/>
            <a:ext cx="320040" cy="0"/>
          </a:xfrm>
          <a:prstGeom prst="line">
            <a:avLst/>
          </a:prstGeom>
          <a:noFill/>
          <a:ln w="25400">
            <a:solidFill>
              <a:srgbClr val="1423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77472" y="411480"/>
            <a:ext cx="0" cy="320040"/>
          </a:xfrm>
          <a:prstGeom prst="line">
            <a:avLst/>
          </a:prstGeom>
          <a:noFill/>
          <a:ln w="25400">
            <a:solidFill>
              <a:srgbClr val="1423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6446520"/>
            <a:ext cx="320040" cy="0"/>
          </a:xfrm>
          <a:prstGeom prst="line">
            <a:avLst/>
          </a:prstGeom>
          <a:noFill/>
          <a:ln w="25400">
            <a:solidFill>
              <a:srgbClr val="1423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6126480"/>
            <a:ext cx="0" cy="320040"/>
          </a:xfrm>
          <a:prstGeom prst="line">
            <a:avLst/>
          </a:prstGeom>
          <a:noFill/>
          <a:ln w="25400">
            <a:solidFill>
              <a:srgbClr val="1423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57432" y="6446520"/>
            <a:ext cx="320040" cy="0"/>
          </a:xfrm>
          <a:prstGeom prst="line">
            <a:avLst/>
          </a:prstGeom>
          <a:noFill/>
          <a:ln w="25400">
            <a:solidFill>
              <a:srgbClr val="1423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77472" y="6126480"/>
            <a:ext cx="0" cy="320040"/>
          </a:xfrm>
          <a:prstGeom prst="line">
            <a:avLst/>
          </a:prstGeom>
          <a:noFill/>
          <a:ln w="25400">
            <a:solidFill>
              <a:srgbClr val="1423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3200400"/>
            <a:ext cx="0" cy="2377440"/>
          </a:xfrm>
          <a:prstGeom prst="line">
            <a:avLst/>
          </a:prstGeom>
          <a:noFill/>
          <a:ln w="12700">
            <a:solidFill>
              <a:srgbClr val="CBB9A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280160" y="3154680"/>
            <a:ext cx="3108960" cy="2514600"/>
          </a:xfrm>
          <a:prstGeom prst="roundRect">
            <a:avLst>
              <a:gd name="adj" fmla="val 4727"/>
            </a:avLst>
          </a:prstGeom>
          <a:solidFill>
            <a:srgbClr val="E0533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81328" y="3493008"/>
            <a:ext cx="475488" cy="475488"/>
          </a:xfrm>
          <a:prstGeom prst="star4">
            <a:avLst/>
          </a:prstGeom>
          <a:solidFill>
            <a:srgbClr val="F5EE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901952" y="3419856"/>
            <a:ext cx="237744" cy="237744"/>
          </a:xfrm>
          <a:prstGeom prst="star4">
            <a:avLst/>
          </a:prstGeom>
          <a:solidFill>
            <a:srgbClr val="F5EEE1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34564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AI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286000" y="3968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E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Cowork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72768" y="4535424"/>
            <a:ext cx="2560320" cy="0"/>
          </a:xfrm>
          <a:prstGeom prst="line">
            <a:avLst/>
          </a:prstGeom>
          <a:noFill/>
          <a:ln w="12700">
            <a:solidFill>
              <a:srgbClr val="EF9A85"/>
            </a:solidFill>
            <a:prstDash val="solid"/>
          </a:ln>
        </p:spPr>
      </p:sp>
      <p:pic>
        <p:nvPicPr>
          <p:cNvPr id="17" name="Image 0" descr="ic_brain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4864608"/>
            <a:ext cx="502920" cy="502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194560" y="4754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E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class AI's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194560" y="5029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&amp; Personality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818120" y="3154680"/>
            <a:ext cx="3108960" cy="2514600"/>
          </a:xfrm>
          <a:prstGeom prst="roundRect">
            <a:avLst>
              <a:gd name="adj" fmla="val 4727"/>
            </a:avLst>
          </a:prstGeom>
          <a:solidFill>
            <a:srgbClr val="1E6B6B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1" descr="ic_laptop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60520"/>
            <a:ext cx="640080" cy="502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887968" y="4023360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Apps</a:t>
            </a:r>
            <a:endParaRPr lang="en-US" sz="2300" dirty="0"/>
          </a:p>
        </p:txBody>
      </p:sp>
      <p:sp>
        <p:nvSpPr>
          <p:cNvPr id="23" name="Shape 19"/>
          <p:cNvSpPr/>
          <p:nvPr/>
        </p:nvSpPr>
        <p:spPr>
          <a:xfrm>
            <a:off x="4389120" y="4370832"/>
            <a:ext cx="3429000" cy="0"/>
          </a:xfrm>
          <a:prstGeom prst="line">
            <a:avLst/>
          </a:prstGeom>
          <a:noFill/>
          <a:ln w="28575">
            <a:solidFill>
              <a:srgbClr val="1E6B6B"/>
            </a:solidFill>
            <a:prstDash val="solid"/>
            <a:headEnd type="triangle"/>
          </a:ln>
        </p:spPr>
      </p:sp>
      <p:sp>
        <p:nvSpPr>
          <p:cNvPr id="24" name="Shape 20"/>
          <p:cNvSpPr/>
          <p:nvPr/>
        </p:nvSpPr>
        <p:spPr>
          <a:xfrm>
            <a:off x="5715000" y="414223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5EEE1"/>
          </a:solidFill>
          <a:ln w="15875">
            <a:solidFill>
              <a:srgbClr val="1E6B6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715000" y="41422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cleaned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2103120" y="2505456"/>
            <a:ext cx="8138160" cy="0"/>
          </a:xfrm>
          <a:prstGeom prst="line">
            <a:avLst/>
          </a:prstGeom>
          <a:noFill/>
          <a:ln w="22225">
            <a:solidFill>
              <a:srgbClr val="14232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052828" y="2455164"/>
            <a:ext cx="100584" cy="100584"/>
          </a:xfrm>
          <a:prstGeom prst="ellipse">
            <a:avLst/>
          </a:prstGeom>
          <a:solidFill>
            <a:srgbClr val="14232C"/>
          </a:solidFill>
          <a:ln/>
        </p:spPr>
      </p:sp>
      <p:sp>
        <p:nvSpPr>
          <p:cNvPr id="28" name="Shape 24"/>
          <p:cNvSpPr/>
          <p:nvPr/>
        </p:nvSpPr>
        <p:spPr>
          <a:xfrm>
            <a:off x="2103120" y="2505456"/>
            <a:ext cx="0" cy="649224"/>
          </a:xfrm>
          <a:prstGeom prst="line">
            <a:avLst/>
          </a:prstGeom>
          <a:noFill/>
          <a:ln w="22225">
            <a:solidFill>
              <a:srgbClr val="14232C"/>
            </a:solidFill>
            <a:prstDash val="solid"/>
            <a:tailEnd type="triangle"/>
          </a:ln>
        </p:spPr>
      </p:sp>
      <p:sp>
        <p:nvSpPr>
          <p:cNvPr id="29" name="Text 25"/>
          <p:cNvSpPr/>
          <p:nvPr/>
        </p:nvSpPr>
        <p:spPr>
          <a:xfrm>
            <a:off x="731520" y="26151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3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strategies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3790188" y="2455164"/>
            <a:ext cx="100584" cy="100584"/>
          </a:xfrm>
          <a:prstGeom prst="ellipse">
            <a:avLst/>
          </a:prstGeom>
          <a:solidFill>
            <a:srgbClr val="14232C"/>
          </a:solidFill>
          <a:ln/>
        </p:spPr>
      </p:sp>
      <p:sp>
        <p:nvSpPr>
          <p:cNvPr id="31" name="Shape 27"/>
          <p:cNvSpPr/>
          <p:nvPr/>
        </p:nvSpPr>
        <p:spPr>
          <a:xfrm>
            <a:off x="3840480" y="2505456"/>
            <a:ext cx="0" cy="649224"/>
          </a:xfrm>
          <a:prstGeom prst="line">
            <a:avLst/>
          </a:prstGeom>
          <a:noFill/>
          <a:ln w="22225">
            <a:solidFill>
              <a:srgbClr val="14232C"/>
            </a:solidFill>
            <a:prstDash val="solid"/>
            <a:tailEnd type="triangle"/>
          </a:ln>
        </p:spPr>
      </p:sp>
      <p:sp>
        <p:nvSpPr>
          <p:cNvPr id="32" name="Text 28"/>
          <p:cNvSpPr/>
          <p:nvPr/>
        </p:nvSpPr>
        <p:spPr>
          <a:xfrm>
            <a:off x="2468880" y="26151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23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LMS export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8499348" y="2455164"/>
            <a:ext cx="100584" cy="100584"/>
          </a:xfrm>
          <a:prstGeom prst="ellipse">
            <a:avLst/>
          </a:prstGeom>
          <a:solidFill>
            <a:srgbClr val="1E6B6B"/>
          </a:solidFill>
          <a:ln/>
        </p:spPr>
      </p:sp>
      <p:sp>
        <p:nvSpPr>
          <p:cNvPr id="34" name="Shape 30"/>
          <p:cNvSpPr/>
          <p:nvPr/>
        </p:nvSpPr>
        <p:spPr>
          <a:xfrm>
            <a:off x="8549640" y="2505456"/>
            <a:ext cx="0" cy="649224"/>
          </a:xfrm>
          <a:prstGeom prst="line">
            <a:avLst/>
          </a:prstGeom>
          <a:noFill/>
          <a:ln w="22225">
            <a:solidFill>
              <a:srgbClr val="1E6B6B"/>
            </a:solidFill>
            <a:prstDash val="solid"/>
            <a:tailEnd type="triangle"/>
          </a:ln>
        </p:spPr>
      </p:sp>
      <p:sp>
        <p:nvSpPr>
          <p:cNvPr id="35" name="Text 31"/>
          <p:cNvSpPr/>
          <p:nvPr/>
        </p:nvSpPr>
        <p:spPr>
          <a:xfrm>
            <a:off x="7178040" y="26151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gradebook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10190988" y="2455164"/>
            <a:ext cx="100584" cy="100584"/>
          </a:xfrm>
          <a:prstGeom prst="ellipse">
            <a:avLst/>
          </a:prstGeom>
          <a:solidFill>
            <a:srgbClr val="1E6B6B"/>
          </a:solidFill>
          <a:ln/>
        </p:spPr>
      </p:sp>
      <p:sp>
        <p:nvSpPr>
          <p:cNvPr id="37" name="Shape 33"/>
          <p:cNvSpPr/>
          <p:nvPr/>
        </p:nvSpPr>
        <p:spPr>
          <a:xfrm>
            <a:off x="10241280" y="2505456"/>
            <a:ext cx="0" cy="649224"/>
          </a:xfrm>
          <a:prstGeom prst="line">
            <a:avLst/>
          </a:prstGeom>
          <a:noFill/>
          <a:ln w="22225">
            <a:solidFill>
              <a:srgbClr val="1E6B6B"/>
            </a:solidFill>
            <a:prstDash val="solid"/>
            <a:tailEnd type="triangle"/>
          </a:ln>
        </p:spPr>
      </p:sp>
      <p:sp>
        <p:nvSpPr>
          <p:cNvPr id="38" name="Text 34"/>
          <p:cNvSpPr/>
          <p:nvPr/>
        </p:nvSpPr>
        <p:spPr>
          <a:xfrm>
            <a:off x="8869680" y="26151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messages</a:t>
            </a:r>
            <a:endParaRPr lang="en-US" sz="1250" dirty="0"/>
          </a:p>
        </p:txBody>
      </p:sp>
      <p:sp>
        <p:nvSpPr>
          <p:cNvPr id="39" name="Shape 35"/>
          <p:cNvSpPr/>
          <p:nvPr/>
        </p:nvSpPr>
        <p:spPr>
          <a:xfrm>
            <a:off x="5390388" y="2455164"/>
            <a:ext cx="100584" cy="100584"/>
          </a:xfrm>
          <a:prstGeom prst="ellipse">
            <a:avLst/>
          </a:prstGeom>
          <a:solidFill>
            <a:srgbClr val="14232C"/>
          </a:solidFill>
          <a:ln/>
        </p:spPr>
      </p:sp>
      <p:sp>
        <p:nvSpPr>
          <p:cNvPr id="40" name="Shape 36"/>
          <p:cNvSpPr/>
          <p:nvPr/>
        </p:nvSpPr>
        <p:spPr>
          <a:xfrm>
            <a:off x="365760" y="1417320"/>
            <a:ext cx="5120640" cy="2743200"/>
          </a:xfrm>
          <a:custGeom>
            <a:avLst/>
            <a:gdLst/>
            <a:ahLst/>
            <a:cxnLst/>
            <a:rect l="l" t="t" r="r" b="b"/>
            <a:pathLst>
              <a:path w="5120640" h="2743200">
                <a:moveTo>
                  <a:pt x="914400" y="2606040"/>
                </a:moveTo>
                <a:cubicBezTo>
                  <a:pt x="0" y="1737360"/>
                  <a:pt x="320040" y="0"/>
                  <a:pt x="4754880" y="548640"/>
                </a:cubicBezTo>
              </a:path>
            </a:pathLst>
          </a:custGeom>
          <a:noFill/>
          <a:ln w="31750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5138928" y="1664208"/>
            <a:ext cx="585216" cy="585216"/>
          </a:xfrm>
          <a:prstGeom prst="ellipse">
            <a:avLst/>
          </a:prstGeom>
          <a:solidFill>
            <a:srgbClr val="14232C"/>
          </a:solidFill>
          <a:ln/>
        </p:spPr>
      </p:sp>
      <p:pic>
        <p:nvPicPr>
          <p:cNvPr id="42" name="Image 2" descr="ic_user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810512"/>
            <a:ext cx="292608" cy="29260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852160" y="16916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20624"/>
            <a:ext cx="155448" cy="603504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29260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class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17352" cy="0"/>
          </a:xfrm>
          <a:prstGeom prst="line">
            <a:avLst/>
          </a:prstGeom>
          <a:noFill/>
          <a:ln w="15875">
            <a:solidFill>
              <a:srgbClr val="E7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work snowballs: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68680" y="301752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E0533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0175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work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035040" y="228600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2286000"/>
            <a:ext cx="109728" cy="1097280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 grades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 flipV="1">
            <a:off x="4251960" y="2834640"/>
            <a:ext cx="1783080" cy="960120"/>
          </a:xfrm>
          <a:prstGeom prst="line">
            <a:avLst/>
          </a:prstGeom>
          <a:noFill/>
          <a:ln w="28575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35040" y="36118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3611880"/>
            <a:ext cx="109728" cy="1097280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611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attendance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251960" y="3794760"/>
            <a:ext cx="1783080" cy="365760"/>
          </a:xfrm>
          <a:prstGeom prst="line">
            <a:avLst/>
          </a:prstGeom>
          <a:noFill/>
          <a:ln w="28575">
            <a:solidFill>
              <a:srgbClr val="E053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493776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DED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4937760"/>
            <a:ext cx="109728" cy="1097280"/>
          </a:xfrm>
          <a:prstGeom prst="rect">
            <a:avLst/>
          </a:prstGeom>
          <a:solidFill>
            <a:srgbClr val="E0533A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937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Disengagement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251960" y="3794760"/>
            <a:ext cx="1783080" cy="1691640"/>
          </a:xfrm>
          <a:prstGeom prst="line">
            <a:avLst/>
          </a:prstGeom>
          <a:noFill/>
          <a:ln w="28575">
            <a:solidFill>
              <a:srgbClr val="E0533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Classroom AI Bot</dc:title>
  <dc:subject>PptxGenJS Presentation</dc:subject>
  <dc:creator>MyClassroomAIbot</dc:creator>
  <cp:lastModifiedBy>MyClassroomAIbot</cp:lastModifiedBy>
  <cp:revision>1</cp:revision>
  <dcterms:created xsi:type="dcterms:W3CDTF">2026-06-15T03:24:05Z</dcterms:created>
  <dcterms:modified xsi:type="dcterms:W3CDTF">2026-06-15T03:24:05Z</dcterms:modified>
</cp:coreProperties>
</file>